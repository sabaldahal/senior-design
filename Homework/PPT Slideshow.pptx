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chivo Black" charset="1" panose="020B0A03020202020B04"/>
      <p:regular r:id="rId19"/>
    </p:embeddedFont>
    <p:embeddedFont>
      <p:font typeface="Garet Bold" charset="1" panose="00000000000000000000"/>
      <p:regular r:id="rId20"/>
    </p:embeddedFont>
    <p:embeddedFont>
      <p:font typeface="Garet" charset="1" panose="000000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797433" cy="707541"/>
          </a:xfrm>
          <a:custGeom>
            <a:avLst/>
            <a:gdLst/>
            <a:ahLst/>
            <a:cxnLst/>
            <a:rect r="r" b="b" t="t" l="l"/>
            <a:pathLst>
              <a:path h="707541" w="797433">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885470" y="6394076"/>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Team SSA</a:t>
            </a:r>
          </a:p>
        </p:txBody>
      </p:sp>
      <p:sp>
        <p:nvSpPr>
          <p:cNvPr name="TextBox 6" id="6"/>
          <p:cNvSpPr txBox="true"/>
          <p:nvPr/>
        </p:nvSpPr>
        <p:spPr>
          <a:xfrm rot="0">
            <a:off x="1028700"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NAME OF PROJECT:</a:t>
            </a:r>
          </a:p>
        </p:txBody>
      </p:sp>
      <p:sp>
        <p:nvSpPr>
          <p:cNvPr name="TextBox 7" id="7"/>
          <p:cNvSpPr txBox="true"/>
          <p:nvPr/>
        </p:nvSpPr>
        <p:spPr>
          <a:xfrm rot="0">
            <a:off x="1028700" y="8966251"/>
            <a:ext cx="3366096" cy="494030"/>
          </a:xfrm>
          <a:prstGeom prst="rect">
            <a:avLst/>
          </a:prstGeom>
        </p:spPr>
        <p:txBody>
          <a:bodyPr anchor="t" rtlCol="false" tIns="0" lIns="0" bIns="0" rIns="0">
            <a:spAutoFit/>
          </a:bodyPr>
          <a:lstStyle/>
          <a:p>
            <a:pPr algn="l" marL="0" indent="0" lvl="0">
              <a:lnSpc>
                <a:spcPts val="2079"/>
              </a:lnSpc>
              <a:spcBef>
                <a:spcPct val="0"/>
              </a:spcBef>
            </a:pPr>
            <a:r>
              <a:rPr lang="en-US" sz="1599">
                <a:solidFill>
                  <a:srgbClr val="2B2B2B"/>
                </a:solidFill>
                <a:latin typeface="Garet"/>
                <a:ea typeface="Garet"/>
                <a:cs typeface="Garet"/>
                <a:sym typeface="Garet"/>
              </a:rPr>
              <a:t>AI-Powered Inventory Management System</a:t>
            </a:r>
          </a:p>
        </p:txBody>
      </p:sp>
      <p:sp>
        <p:nvSpPr>
          <p:cNvPr name="TextBox 8" id="8"/>
          <p:cNvSpPr txBox="true"/>
          <p:nvPr/>
        </p:nvSpPr>
        <p:spPr>
          <a:xfrm rot="0">
            <a:off x="7460952" y="8440369"/>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PRESENTED BY:</a:t>
            </a:r>
          </a:p>
        </p:txBody>
      </p:sp>
      <p:sp>
        <p:nvSpPr>
          <p:cNvPr name="TextBox 9" id="9"/>
          <p:cNvSpPr txBox="true"/>
          <p:nvPr/>
        </p:nvSpPr>
        <p:spPr>
          <a:xfrm rot="0">
            <a:off x="7460952" y="8784881"/>
            <a:ext cx="3366096" cy="751205"/>
          </a:xfrm>
          <a:prstGeom prst="rect">
            <a:avLst/>
          </a:prstGeom>
        </p:spPr>
        <p:txBody>
          <a:bodyPr anchor="t" rtlCol="false" tIns="0" lIns="0" bIns="0" rIns="0">
            <a:spAutoFit/>
          </a:bodyPr>
          <a:lstStyle/>
          <a:p>
            <a:pPr algn="l">
              <a:lnSpc>
                <a:spcPts val="2079"/>
              </a:lnSpc>
            </a:pPr>
            <a:r>
              <a:rPr lang="en-US" sz="1599">
                <a:solidFill>
                  <a:srgbClr val="2B2B2B"/>
                </a:solidFill>
                <a:latin typeface="Garet"/>
                <a:ea typeface="Garet"/>
                <a:cs typeface="Garet"/>
                <a:sym typeface="Garet"/>
              </a:rPr>
              <a:t>Saugat Neupane</a:t>
            </a:r>
          </a:p>
          <a:p>
            <a:pPr algn="l">
              <a:lnSpc>
                <a:spcPts val="2079"/>
              </a:lnSpc>
            </a:pPr>
            <a:r>
              <a:rPr lang="en-US" sz="1599">
                <a:solidFill>
                  <a:srgbClr val="2B2B2B"/>
                </a:solidFill>
                <a:latin typeface="Garet"/>
                <a:ea typeface="Garet"/>
                <a:cs typeface="Garet"/>
                <a:sym typeface="Garet"/>
              </a:rPr>
              <a:t>Sabal Dahal</a:t>
            </a:r>
          </a:p>
          <a:p>
            <a:pPr algn="l" marL="0" indent="0" lvl="0">
              <a:lnSpc>
                <a:spcPts val="2079"/>
              </a:lnSpc>
              <a:spcBef>
                <a:spcPct val="0"/>
              </a:spcBef>
            </a:pPr>
            <a:r>
              <a:rPr lang="en-US" sz="1599">
                <a:solidFill>
                  <a:srgbClr val="2B2B2B"/>
                </a:solidFill>
                <a:latin typeface="Garet"/>
                <a:ea typeface="Garet"/>
                <a:cs typeface="Garet"/>
                <a:sym typeface="Garet"/>
              </a:rPr>
              <a:t>Aayush Pokhrel</a:t>
            </a:r>
          </a:p>
        </p:txBody>
      </p:sp>
      <p:sp>
        <p:nvSpPr>
          <p:cNvPr name="TextBox 10" id="10"/>
          <p:cNvSpPr txBox="true"/>
          <p:nvPr/>
        </p:nvSpPr>
        <p:spPr>
          <a:xfrm rot="0">
            <a:off x="6077844" y="3950633"/>
            <a:ext cx="11181456" cy="2304638"/>
          </a:xfrm>
          <a:prstGeom prst="rect">
            <a:avLst/>
          </a:prstGeom>
        </p:spPr>
        <p:txBody>
          <a:bodyPr anchor="t" rtlCol="false" tIns="0" lIns="0" bIns="0" rIns="0">
            <a:spAutoFit/>
          </a:bodyPr>
          <a:lstStyle/>
          <a:p>
            <a:pPr algn="r">
              <a:lnSpc>
                <a:spcPts val="8490"/>
              </a:lnSpc>
            </a:pPr>
            <a:r>
              <a:rPr lang="en-US" sz="10885" spc="-859">
                <a:solidFill>
                  <a:srgbClr val="000000"/>
                </a:solidFill>
                <a:latin typeface="Archivo Black"/>
                <a:ea typeface="Archivo Black"/>
                <a:cs typeface="Archivo Black"/>
                <a:sym typeface="Archivo Black"/>
              </a:rPr>
              <a:t>FALL DESIGN</a:t>
            </a:r>
          </a:p>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199594" y="1814513"/>
          <a:ext cx="6511183" cy="6572250"/>
        </p:xfrm>
        <a:graphic>
          <a:graphicData uri="http://schemas.openxmlformats.org/drawingml/2006/table">
            <a:tbl>
              <a:tblPr/>
              <a:tblGrid>
                <a:gridCol w="866395"/>
                <a:gridCol w="5025021"/>
              </a:tblGrid>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Names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Purpose and Goals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Project Abstract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User Stories &amp; Design Diagrams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Project Constraints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Review of Project Progress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End of Term Expectations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Division of Work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Overview</a:t>
            </a:r>
          </a:p>
        </p:txBody>
      </p:sp>
      <p:graphicFrame>
        <p:nvGraphicFramePr>
          <p:cNvPr name="Table 7" id="7"/>
          <p:cNvGraphicFramePr>
            <a:graphicFrameLocks noGrp="true"/>
          </p:cNvGraphicFramePr>
          <p:nvPr/>
        </p:nvGraphicFramePr>
        <p:xfrm>
          <a:off x="11154330" y="8386762"/>
          <a:ext cx="5556447" cy="838200"/>
        </p:xfrm>
        <a:graphic>
          <a:graphicData uri="http://schemas.openxmlformats.org/drawingml/2006/table">
            <a:tbl>
              <a:tblPr/>
              <a:tblGrid>
                <a:gridCol w="4288201"/>
              </a:tblGrid>
              <a:tr h="83820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Final Demo </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8" id="8"/>
          <p:cNvGraphicFramePr>
            <a:graphicFrameLocks noGrp="true"/>
          </p:cNvGraphicFramePr>
          <p:nvPr/>
        </p:nvGraphicFramePr>
        <p:xfrm>
          <a:off x="10199594" y="8386762"/>
          <a:ext cx="973786" cy="838200"/>
        </p:xfrm>
        <a:graphic>
          <a:graphicData uri="http://schemas.openxmlformats.org/drawingml/2006/table">
            <a:tbl>
              <a:tblPr/>
              <a:tblGrid>
                <a:gridCol w="129574"/>
              </a:tblGrid>
              <a:tr h="83820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2568735"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3">
              <a:extLst>
                <a:ext uri="{96DAC541-7B7A-43D3-8B79-37D633B846F1}">
                  <asvg:svgBlip xmlns:asvg="http://schemas.microsoft.com/office/drawing/2016/SVG/main" r:embed="rId4"/>
                </a:ext>
              </a:extLst>
            </a:blip>
            <a:stretch>
              <a:fillRect l="-117870" t="0" r="0" b="-122462"/>
            </a:stretch>
          </a:blipFill>
        </p:spPr>
      </p:sp>
      <p:sp>
        <p:nvSpPr>
          <p:cNvPr name="Freeform 6" id="6"/>
          <p:cNvSpPr/>
          <p:nvPr/>
        </p:nvSpPr>
        <p:spPr>
          <a:xfrm flipH="false" flipV="false" rot="0">
            <a:off x="6744014"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3">
              <a:extLst>
                <a:ext uri="{96DAC541-7B7A-43D3-8B79-37D633B846F1}">
                  <asvg:svgBlip xmlns:asvg="http://schemas.microsoft.com/office/drawing/2016/SVG/main" r:embed="rId4"/>
                </a:ext>
              </a:extLst>
            </a:blip>
            <a:stretch>
              <a:fillRect l="-117870" t="0" r="0" b="-122462"/>
            </a:stretch>
          </a:blipFill>
        </p:spPr>
      </p:sp>
      <p:sp>
        <p:nvSpPr>
          <p:cNvPr name="Freeform 7" id="7"/>
          <p:cNvSpPr/>
          <p:nvPr/>
        </p:nvSpPr>
        <p:spPr>
          <a:xfrm flipH="false" flipV="false" rot="0">
            <a:off x="10919293"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3">
              <a:extLst>
                <a:ext uri="{96DAC541-7B7A-43D3-8B79-37D633B846F1}">
                  <asvg:svgBlip xmlns:asvg="http://schemas.microsoft.com/office/drawing/2016/SVG/main" r:embed="rId4"/>
                </a:ext>
              </a:extLst>
            </a:blip>
            <a:stretch>
              <a:fillRect l="-117870" t="0" r="0" b="-122462"/>
            </a:stretch>
          </a:blipFill>
        </p:spPr>
      </p:sp>
      <p:sp>
        <p:nvSpPr>
          <p:cNvPr name="Freeform 8" id="8"/>
          <p:cNvSpPr/>
          <p:nvPr/>
        </p:nvSpPr>
        <p:spPr>
          <a:xfrm flipH="false" flipV="false" rot="0">
            <a:off x="15094572" y="7658855"/>
            <a:ext cx="624692" cy="623129"/>
          </a:xfrm>
          <a:custGeom>
            <a:avLst/>
            <a:gdLst/>
            <a:ahLst/>
            <a:cxnLst/>
            <a:rect r="r" b="b" t="t" l="l"/>
            <a:pathLst>
              <a:path h="623129" w="624692">
                <a:moveTo>
                  <a:pt x="0" y="0"/>
                </a:moveTo>
                <a:lnTo>
                  <a:pt x="624693" y="0"/>
                </a:lnTo>
                <a:lnTo>
                  <a:pt x="624693" y="623129"/>
                </a:lnTo>
                <a:lnTo>
                  <a:pt x="0" y="623129"/>
                </a:lnTo>
                <a:lnTo>
                  <a:pt x="0" y="0"/>
                </a:lnTo>
                <a:close/>
              </a:path>
            </a:pathLst>
          </a:custGeom>
          <a:blipFill>
            <a:blip r:embed="rId3">
              <a:extLst>
                <a:ext uri="{96DAC541-7B7A-43D3-8B79-37D633B846F1}">
                  <asvg:svgBlip xmlns:asvg="http://schemas.microsoft.com/office/drawing/2016/SVG/main" r:embed="rId4"/>
                </a:ext>
              </a:extLst>
            </a:blip>
            <a:stretch>
              <a:fillRect l="-117870" t="0" r="0" b="-122462"/>
            </a:stretch>
          </a:blipFill>
        </p:spPr>
      </p:sp>
      <p:sp>
        <p:nvSpPr>
          <p:cNvPr name="TextBox 9" id="9"/>
          <p:cNvSpPr txBox="true"/>
          <p:nvPr/>
        </p:nvSpPr>
        <p:spPr>
          <a:xfrm rot="0">
            <a:off x="5542303" y="1123950"/>
            <a:ext cx="7203393" cy="78570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Our team</a:t>
            </a:r>
          </a:p>
        </p:txBody>
      </p:sp>
      <p:sp>
        <p:nvSpPr>
          <p:cNvPr name="TextBox 10" id="10"/>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03</a:t>
            </a:r>
          </a:p>
        </p:txBody>
      </p:sp>
      <p:sp>
        <p:nvSpPr>
          <p:cNvPr name="TextBox 11" id="11"/>
          <p:cNvSpPr txBox="true"/>
          <p:nvPr/>
        </p:nvSpPr>
        <p:spPr>
          <a:xfrm rot="0">
            <a:off x="915229" y="3766068"/>
            <a:ext cx="393170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Saugat Neupane</a:t>
            </a:r>
          </a:p>
        </p:txBody>
      </p:sp>
      <p:sp>
        <p:nvSpPr>
          <p:cNvPr name="TextBox 12" id="12"/>
          <p:cNvSpPr txBox="true"/>
          <p:nvPr/>
        </p:nvSpPr>
        <p:spPr>
          <a:xfrm rot="0">
            <a:off x="4968721" y="3766068"/>
            <a:ext cx="4175279"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Sabal Dahal</a:t>
            </a:r>
          </a:p>
        </p:txBody>
      </p:sp>
      <p:sp>
        <p:nvSpPr>
          <p:cNvPr name="TextBox 13" id="13"/>
          <p:cNvSpPr txBox="true"/>
          <p:nvPr/>
        </p:nvSpPr>
        <p:spPr>
          <a:xfrm rot="0">
            <a:off x="1250509" y="5114925"/>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neupansa@mail.uc.edu</a:t>
            </a:r>
          </a:p>
        </p:txBody>
      </p:sp>
      <p:sp>
        <p:nvSpPr>
          <p:cNvPr name="TextBox 14" id="14"/>
          <p:cNvSpPr txBox="true"/>
          <p:nvPr/>
        </p:nvSpPr>
        <p:spPr>
          <a:xfrm rot="0">
            <a:off x="5425788" y="5114925"/>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dahalsl@mail.uc.edu</a:t>
            </a:r>
          </a:p>
        </p:txBody>
      </p:sp>
      <p:sp>
        <p:nvSpPr>
          <p:cNvPr name="TextBox 15" id="15"/>
          <p:cNvSpPr txBox="true"/>
          <p:nvPr/>
        </p:nvSpPr>
        <p:spPr>
          <a:xfrm rot="0">
            <a:off x="9091092" y="3766068"/>
            <a:ext cx="411458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Aayush Pokhrel</a:t>
            </a:r>
          </a:p>
        </p:txBody>
      </p:sp>
      <p:sp>
        <p:nvSpPr>
          <p:cNvPr name="TextBox 16" id="16"/>
          <p:cNvSpPr txBox="true"/>
          <p:nvPr/>
        </p:nvSpPr>
        <p:spPr>
          <a:xfrm rot="0">
            <a:off x="9517812" y="5114925"/>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pokhreah@mail.uc.edu</a:t>
            </a:r>
          </a:p>
        </p:txBody>
      </p:sp>
      <p:sp>
        <p:nvSpPr>
          <p:cNvPr name="TextBox 17" id="17"/>
          <p:cNvSpPr txBox="true"/>
          <p:nvPr/>
        </p:nvSpPr>
        <p:spPr>
          <a:xfrm rot="0">
            <a:off x="13205676" y="3766068"/>
            <a:ext cx="405362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N/A</a:t>
            </a:r>
          </a:p>
        </p:txBody>
      </p:sp>
      <p:sp>
        <p:nvSpPr>
          <p:cNvPr name="TextBox 18" id="18"/>
          <p:cNvSpPr txBox="true"/>
          <p:nvPr/>
        </p:nvSpPr>
        <p:spPr>
          <a:xfrm rot="0">
            <a:off x="13601916" y="5114925"/>
            <a:ext cx="3261144" cy="315305"/>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Advisor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1560894" y="5269769"/>
            <a:ext cx="1561463" cy="655814"/>
          </a:xfrm>
          <a:custGeom>
            <a:avLst/>
            <a:gdLst/>
            <a:ahLst/>
            <a:cxnLst/>
            <a:rect r="r" b="b" t="t" l="l"/>
            <a:pathLst>
              <a:path h="655814" w="1561463">
                <a:moveTo>
                  <a:pt x="0" y="0"/>
                </a:moveTo>
                <a:lnTo>
                  <a:pt x="1561463" y="0"/>
                </a:lnTo>
                <a:lnTo>
                  <a:pt x="1561463" y="655815"/>
                </a:lnTo>
                <a:lnTo>
                  <a:pt x="0" y="6558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011252" y="5335519"/>
            <a:ext cx="1515861" cy="636662"/>
          </a:xfrm>
          <a:custGeom>
            <a:avLst/>
            <a:gdLst/>
            <a:ahLst/>
            <a:cxnLst/>
            <a:rect r="r" b="b" t="t" l="l"/>
            <a:pathLst>
              <a:path h="636662" w="1515861">
                <a:moveTo>
                  <a:pt x="0" y="0"/>
                </a:moveTo>
                <a:lnTo>
                  <a:pt x="1515861" y="0"/>
                </a:lnTo>
                <a:lnTo>
                  <a:pt x="1515861" y="636661"/>
                </a:lnTo>
                <a:lnTo>
                  <a:pt x="0" y="6366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363310" y="5287911"/>
            <a:ext cx="1592281" cy="668758"/>
          </a:xfrm>
          <a:custGeom>
            <a:avLst/>
            <a:gdLst/>
            <a:ahLst/>
            <a:cxnLst/>
            <a:rect r="r" b="b" t="t" l="l"/>
            <a:pathLst>
              <a:path h="668758" w="1592281">
                <a:moveTo>
                  <a:pt x="0" y="0"/>
                </a:moveTo>
                <a:lnTo>
                  <a:pt x="1592281" y="0"/>
                </a:lnTo>
                <a:lnTo>
                  <a:pt x="1592281" y="668758"/>
                </a:lnTo>
                <a:lnTo>
                  <a:pt x="0" y="6687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159450" y="-14097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1557564"/>
            <a:ext cx="7279037"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Purpose and Goals</a:t>
            </a:r>
          </a:p>
        </p:txBody>
      </p:sp>
      <p:sp>
        <p:nvSpPr>
          <p:cNvPr name="TextBox 10" id="10"/>
          <p:cNvSpPr txBox="true"/>
          <p:nvPr/>
        </p:nvSpPr>
        <p:spPr>
          <a:xfrm rot="0">
            <a:off x="14382445" y="981075"/>
            <a:ext cx="2876855"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04</a:t>
            </a:r>
          </a:p>
        </p:txBody>
      </p:sp>
      <p:sp>
        <p:nvSpPr>
          <p:cNvPr name="TextBox 11" id="11"/>
          <p:cNvSpPr txBox="true"/>
          <p:nvPr/>
        </p:nvSpPr>
        <p:spPr>
          <a:xfrm rot="0">
            <a:off x="1028700" y="2819519"/>
            <a:ext cx="8823356" cy="73723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To automate and streamline inventory management using AI-driven image recognition and real-time tracking.</a:t>
            </a:r>
          </a:p>
        </p:txBody>
      </p:sp>
      <p:sp>
        <p:nvSpPr>
          <p:cNvPr name="TextBox 12" id="12"/>
          <p:cNvSpPr txBox="true"/>
          <p:nvPr/>
        </p:nvSpPr>
        <p:spPr>
          <a:xfrm rot="0">
            <a:off x="564527" y="6269565"/>
            <a:ext cx="3554197" cy="453518"/>
          </a:xfrm>
          <a:prstGeom prst="rect">
            <a:avLst/>
          </a:prstGeom>
        </p:spPr>
        <p:txBody>
          <a:bodyPr anchor="t" rtlCol="false" tIns="0" lIns="0" bIns="0" rIns="0">
            <a:spAutoFit/>
          </a:bodyPr>
          <a:lstStyle/>
          <a:p>
            <a:pPr algn="ctr" marL="0" indent="0" lvl="0">
              <a:lnSpc>
                <a:spcPts val="3585"/>
              </a:lnSpc>
              <a:spcBef>
                <a:spcPct val="0"/>
              </a:spcBef>
            </a:pPr>
            <a:r>
              <a:rPr lang="en-US" b="true" sz="2987">
                <a:solidFill>
                  <a:srgbClr val="000000"/>
                </a:solidFill>
                <a:latin typeface="Garet Bold"/>
                <a:ea typeface="Garet Bold"/>
                <a:cs typeface="Garet Bold"/>
                <a:sym typeface="Garet Bold"/>
              </a:rPr>
              <a:t>Goal # 1</a:t>
            </a:r>
          </a:p>
        </p:txBody>
      </p:sp>
      <p:sp>
        <p:nvSpPr>
          <p:cNvPr name="TextBox 13" id="13"/>
          <p:cNvSpPr txBox="true"/>
          <p:nvPr/>
        </p:nvSpPr>
        <p:spPr>
          <a:xfrm rot="0">
            <a:off x="5043983" y="6315641"/>
            <a:ext cx="3450399" cy="430748"/>
          </a:xfrm>
          <a:prstGeom prst="rect">
            <a:avLst/>
          </a:prstGeom>
        </p:spPr>
        <p:txBody>
          <a:bodyPr anchor="t" rtlCol="false" tIns="0" lIns="0" bIns="0" rIns="0">
            <a:spAutoFit/>
          </a:bodyPr>
          <a:lstStyle/>
          <a:p>
            <a:pPr algn="ctr" marL="0" indent="0" lvl="0">
              <a:lnSpc>
                <a:spcPts val="3480"/>
              </a:lnSpc>
              <a:spcBef>
                <a:spcPct val="0"/>
              </a:spcBef>
            </a:pPr>
            <a:r>
              <a:rPr lang="en-US" b="true" sz="2900">
                <a:solidFill>
                  <a:srgbClr val="000000"/>
                </a:solidFill>
                <a:latin typeface="Garet Bold"/>
                <a:ea typeface="Garet Bold"/>
                <a:cs typeface="Garet Bold"/>
                <a:sym typeface="Garet Bold"/>
              </a:rPr>
              <a:t>Goal # 2</a:t>
            </a:r>
          </a:p>
        </p:txBody>
      </p:sp>
      <p:sp>
        <p:nvSpPr>
          <p:cNvPr name="TextBox 14" id="14"/>
          <p:cNvSpPr txBox="true"/>
          <p:nvPr/>
        </p:nvSpPr>
        <p:spPr>
          <a:xfrm rot="0">
            <a:off x="0" y="6839206"/>
            <a:ext cx="4683251" cy="681917"/>
          </a:xfrm>
          <a:prstGeom prst="rect">
            <a:avLst/>
          </a:prstGeom>
        </p:spPr>
        <p:txBody>
          <a:bodyPr anchor="t" rtlCol="false" tIns="0" lIns="0" bIns="0" rIns="0">
            <a:spAutoFit/>
          </a:bodyPr>
          <a:lstStyle/>
          <a:p>
            <a:pPr algn="ctr" marL="0" indent="0" lvl="0">
              <a:lnSpc>
                <a:spcPts val="2744"/>
              </a:lnSpc>
              <a:spcBef>
                <a:spcPct val="0"/>
              </a:spcBef>
            </a:pPr>
            <a:r>
              <a:rPr lang="en-US" sz="1960">
                <a:solidFill>
                  <a:srgbClr val="000000"/>
                </a:solidFill>
                <a:latin typeface="Garet"/>
                <a:ea typeface="Garet"/>
                <a:cs typeface="Garet"/>
                <a:sym typeface="Garet"/>
              </a:rPr>
              <a:t>Deve</a:t>
            </a:r>
            <a:r>
              <a:rPr lang="en-US" sz="1960" u="none">
                <a:solidFill>
                  <a:srgbClr val="000000"/>
                </a:solidFill>
                <a:latin typeface="Garet"/>
                <a:ea typeface="Garet"/>
                <a:cs typeface="Garet"/>
                <a:sym typeface="Garet"/>
              </a:rPr>
              <a:t>lop a deep learning model for object recognition.</a:t>
            </a:r>
          </a:p>
        </p:txBody>
      </p:sp>
      <p:sp>
        <p:nvSpPr>
          <p:cNvPr name="TextBox 15" id="15"/>
          <p:cNvSpPr txBox="true"/>
          <p:nvPr/>
        </p:nvSpPr>
        <p:spPr>
          <a:xfrm rot="0">
            <a:off x="4495943" y="6867533"/>
            <a:ext cx="4546480" cy="653590"/>
          </a:xfrm>
          <a:prstGeom prst="rect">
            <a:avLst/>
          </a:prstGeom>
        </p:spPr>
        <p:txBody>
          <a:bodyPr anchor="t" rtlCol="false" tIns="0" lIns="0" bIns="0" rIns="0">
            <a:spAutoFit/>
          </a:bodyPr>
          <a:lstStyle/>
          <a:p>
            <a:pPr algn="ctr" marL="0" indent="0" lvl="0">
              <a:lnSpc>
                <a:spcPts val="2664"/>
              </a:lnSpc>
              <a:spcBef>
                <a:spcPct val="0"/>
              </a:spcBef>
            </a:pPr>
            <a:r>
              <a:rPr lang="en-US" sz="1903">
                <a:solidFill>
                  <a:srgbClr val="000000"/>
                </a:solidFill>
                <a:latin typeface="Garet"/>
                <a:ea typeface="Garet"/>
                <a:cs typeface="Garet"/>
                <a:sym typeface="Garet"/>
              </a:rPr>
              <a:t>Integ</a:t>
            </a:r>
            <a:r>
              <a:rPr lang="en-US" sz="1903" u="none">
                <a:solidFill>
                  <a:srgbClr val="000000"/>
                </a:solidFill>
                <a:latin typeface="Garet"/>
                <a:ea typeface="Garet"/>
                <a:cs typeface="Garet"/>
                <a:sym typeface="Garet"/>
              </a:rPr>
              <a:t>rate a secure backend and scalable database</a:t>
            </a:r>
          </a:p>
        </p:txBody>
      </p:sp>
      <p:sp>
        <p:nvSpPr>
          <p:cNvPr name="TextBox 16" id="16"/>
          <p:cNvSpPr txBox="true"/>
          <p:nvPr/>
        </p:nvSpPr>
        <p:spPr>
          <a:xfrm rot="0">
            <a:off x="9347278" y="6307439"/>
            <a:ext cx="3624345" cy="462468"/>
          </a:xfrm>
          <a:prstGeom prst="rect">
            <a:avLst/>
          </a:prstGeom>
        </p:spPr>
        <p:txBody>
          <a:bodyPr anchor="t" rtlCol="false" tIns="0" lIns="0" bIns="0" rIns="0">
            <a:spAutoFit/>
          </a:bodyPr>
          <a:lstStyle/>
          <a:p>
            <a:pPr algn="ctr" marL="0" indent="0" lvl="0">
              <a:lnSpc>
                <a:spcPts val="3655"/>
              </a:lnSpc>
              <a:spcBef>
                <a:spcPct val="0"/>
              </a:spcBef>
            </a:pPr>
            <a:r>
              <a:rPr lang="en-US" b="true" sz="3046">
                <a:solidFill>
                  <a:srgbClr val="000000"/>
                </a:solidFill>
                <a:latin typeface="Garet Bold"/>
                <a:ea typeface="Garet Bold"/>
                <a:cs typeface="Garet Bold"/>
                <a:sym typeface="Garet Bold"/>
              </a:rPr>
              <a:t>Goal # 3</a:t>
            </a:r>
          </a:p>
        </p:txBody>
      </p:sp>
      <p:sp>
        <p:nvSpPr>
          <p:cNvPr name="TextBox 17" id="17"/>
          <p:cNvSpPr txBox="true"/>
          <p:nvPr/>
        </p:nvSpPr>
        <p:spPr>
          <a:xfrm rot="0">
            <a:off x="8771609" y="6898600"/>
            <a:ext cx="4775683" cy="685099"/>
          </a:xfrm>
          <a:prstGeom prst="rect">
            <a:avLst/>
          </a:prstGeom>
        </p:spPr>
        <p:txBody>
          <a:bodyPr anchor="t" rtlCol="false" tIns="0" lIns="0" bIns="0" rIns="0">
            <a:spAutoFit/>
          </a:bodyPr>
          <a:lstStyle/>
          <a:p>
            <a:pPr algn="ctr" marL="0" indent="0" lvl="0">
              <a:lnSpc>
                <a:spcPts val="2798"/>
              </a:lnSpc>
              <a:spcBef>
                <a:spcPct val="0"/>
              </a:spcBef>
            </a:pPr>
            <a:r>
              <a:rPr lang="en-US" sz="1999">
                <a:solidFill>
                  <a:srgbClr val="000000"/>
                </a:solidFill>
                <a:latin typeface="Garet"/>
                <a:ea typeface="Garet"/>
                <a:cs typeface="Garet"/>
                <a:sym typeface="Garet"/>
              </a:rPr>
              <a:t>C</a:t>
            </a:r>
            <a:r>
              <a:rPr lang="en-US" sz="1999" u="none">
                <a:solidFill>
                  <a:srgbClr val="000000"/>
                </a:solidFill>
                <a:latin typeface="Garet"/>
                <a:ea typeface="Garet"/>
                <a:cs typeface="Garet"/>
                <a:sym typeface="Garet"/>
              </a:rPr>
              <a:t>reate a user-friendly dashboard for monitoring and alerts.</a:t>
            </a:r>
          </a:p>
        </p:txBody>
      </p:sp>
      <p:sp>
        <p:nvSpPr>
          <p:cNvPr name="Freeform 18" id="18"/>
          <p:cNvSpPr/>
          <p:nvPr/>
        </p:nvSpPr>
        <p:spPr>
          <a:xfrm flipH="false" flipV="false" rot="0">
            <a:off x="15046432" y="5287911"/>
            <a:ext cx="1548880" cy="650530"/>
          </a:xfrm>
          <a:custGeom>
            <a:avLst/>
            <a:gdLst/>
            <a:ahLst/>
            <a:cxnLst/>
            <a:rect r="r" b="b" t="t" l="l"/>
            <a:pathLst>
              <a:path h="650530" w="1548880">
                <a:moveTo>
                  <a:pt x="0" y="0"/>
                </a:moveTo>
                <a:lnTo>
                  <a:pt x="1548881" y="0"/>
                </a:lnTo>
                <a:lnTo>
                  <a:pt x="1548881" y="650530"/>
                </a:lnTo>
                <a:lnTo>
                  <a:pt x="0" y="6505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4058094" y="6279650"/>
            <a:ext cx="3525557" cy="449863"/>
          </a:xfrm>
          <a:prstGeom prst="rect">
            <a:avLst/>
          </a:prstGeom>
        </p:spPr>
        <p:txBody>
          <a:bodyPr anchor="t" rtlCol="false" tIns="0" lIns="0" bIns="0" rIns="0">
            <a:spAutoFit/>
          </a:bodyPr>
          <a:lstStyle/>
          <a:p>
            <a:pPr algn="ctr" marL="0" indent="0" lvl="0">
              <a:lnSpc>
                <a:spcPts val="3556"/>
              </a:lnSpc>
              <a:spcBef>
                <a:spcPct val="0"/>
              </a:spcBef>
            </a:pPr>
            <a:r>
              <a:rPr lang="en-US" b="true" sz="2963">
                <a:solidFill>
                  <a:srgbClr val="000000"/>
                </a:solidFill>
                <a:latin typeface="Garet Bold"/>
                <a:ea typeface="Garet Bold"/>
                <a:cs typeface="Garet Bold"/>
                <a:sym typeface="Garet Bold"/>
              </a:rPr>
              <a:t>Goal # 4</a:t>
            </a:r>
          </a:p>
        </p:txBody>
      </p:sp>
      <p:sp>
        <p:nvSpPr>
          <p:cNvPr name="TextBox 20" id="20"/>
          <p:cNvSpPr txBox="true"/>
          <p:nvPr/>
        </p:nvSpPr>
        <p:spPr>
          <a:xfrm rot="0">
            <a:off x="13498116" y="6844393"/>
            <a:ext cx="4645513" cy="676729"/>
          </a:xfrm>
          <a:prstGeom prst="rect">
            <a:avLst/>
          </a:prstGeom>
        </p:spPr>
        <p:txBody>
          <a:bodyPr anchor="t" rtlCol="false" tIns="0" lIns="0" bIns="0" rIns="0">
            <a:spAutoFit/>
          </a:bodyPr>
          <a:lstStyle/>
          <a:p>
            <a:pPr algn="ctr" marL="0" indent="0" lvl="0">
              <a:lnSpc>
                <a:spcPts val="2722"/>
              </a:lnSpc>
              <a:spcBef>
                <a:spcPct val="0"/>
              </a:spcBef>
            </a:pPr>
            <a:r>
              <a:rPr lang="en-US" sz="1944">
                <a:solidFill>
                  <a:srgbClr val="000000"/>
                </a:solidFill>
                <a:latin typeface="Garet"/>
                <a:ea typeface="Garet"/>
                <a:cs typeface="Garet"/>
                <a:sym typeface="Garet"/>
              </a:rPr>
              <a:t>R</a:t>
            </a:r>
            <a:r>
              <a:rPr lang="en-US" sz="1944" u="none">
                <a:solidFill>
                  <a:srgbClr val="000000"/>
                </a:solidFill>
                <a:latin typeface="Garet"/>
                <a:ea typeface="Garet"/>
                <a:cs typeface="Garet"/>
                <a:sym typeface="Garet"/>
              </a:rPr>
              <a:t>educe manual effort, human error, and reporting delays.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442085"/>
            <a:ext cx="7203393"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Project Abstract</a:t>
            </a:r>
          </a:p>
        </p:txBody>
      </p:sp>
      <p:sp>
        <p:nvSpPr>
          <p:cNvPr name="TextBox 6" id="6"/>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05</a:t>
            </a:r>
          </a:p>
        </p:txBody>
      </p:sp>
      <p:sp>
        <p:nvSpPr>
          <p:cNvPr name="TextBox 7" id="7"/>
          <p:cNvSpPr txBox="true"/>
          <p:nvPr/>
        </p:nvSpPr>
        <p:spPr>
          <a:xfrm rot="0">
            <a:off x="923577" y="3087366"/>
            <a:ext cx="8007440" cy="445198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Our p</a:t>
            </a:r>
            <a:r>
              <a:rPr lang="en-US" sz="2099">
                <a:solidFill>
                  <a:srgbClr val="000000"/>
                </a:solidFill>
                <a:latin typeface="Garet"/>
                <a:ea typeface="Garet"/>
                <a:cs typeface="Garet"/>
                <a:sym typeface="Garet"/>
              </a:rPr>
              <a:t>roject focuses on developing an AI-powered inventory management system that combines deep learning for image recognition with a robust backend database for automated stock tracking. The system allows users to add, remove, and monitor inventory in real time through an intuitive dashboard. Using technologies like TensorFlow, PostgreSQL, and React, our solution aims to minimize manual data entry and reduce reporting errors. The project enhances operational efficiency by providing visual insights and real-time alerts for low-stock conditions, ultimately supporting data-driven decision-making in warehouse or retail environments.</a:t>
            </a:r>
          </a:p>
        </p:txBody>
      </p:sp>
      <p:sp>
        <p:nvSpPr>
          <p:cNvPr name="Freeform 8" id="8"/>
          <p:cNvSpPr/>
          <p:nvPr/>
        </p:nvSpPr>
        <p:spPr>
          <a:xfrm flipH="false" flipV="false" rot="-10800000">
            <a:off x="13592297" y="-125958"/>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3456423" y="1883102"/>
            <a:ext cx="3802877" cy="1486579"/>
          </a:xfrm>
          <a:custGeom>
            <a:avLst/>
            <a:gdLst/>
            <a:ahLst/>
            <a:cxnLst/>
            <a:rect r="r" b="b" t="t" l="l"/>
            <a:pathLst>
              <a:path h="1486579" w="3802877">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07533" y="171024"/>
            <a:ext cx="11143868" cy="2389032"/>
          </a:xfrm>
          <a:custGeom>
            <a:avLst/>
            <a:gdLst/>
            <a:ahLst/>
            <a:cxnLst/>
            <a:rect r="r" b="b" t="t" l="l"/>
            <a:pathLst>
              <a:path h="2389032" w="11143868">
                <a:moveTo>
                  <a:pt x="0" y="0"/>
                </a:moveTo>
                <a:lnTo>
                  <a:pt x="11143868" y="0"/>
                </a:lnTo>
                <a:lnTo>
                  <a:pt x="11143868" y="2389032"/>
                </a:lnTo>
                <a:lnTo>
                  <a:pt x="0" y="2389032"/>
                </a:lnTo>
                <a:lnTo>
                  <a:pt x="0" y="0"/>
                </a:lnTo>
                <a:close/>
              </a:path>
            </a:pathLst>
          </a:custGeom>
          <a:blipFill>
            <a:blip r:embed="rId5"/>
            <a:stretch>
              <a:fillRect l="0" t="0" r="0" b="0"/>
            </a:stretch>
          </a:blipFill>
        </p:spPr>
      </p:sp>
      <p:sp>
        <p:nvSpPr>
          <p:cNvPr name="Freeform 5" id="5"/>
          <p:cNvSpPr/>
          <p:nvPr/>
        </p:nvSpPr>
        <p:spPr>
          <a:xfrm flipH="false" flipV="false" rot="0">
            <a:off x="243042" y="2859084"/>
            <a:ext cx="11272849" cy="1581904"/>
          </a:xfrm>
          <a:custGeom>
            <a:avLst/>
            <a:gdLst/>
            <a:ahLst/>
            <a:cxnLst/>
            <a:rect r="r" b="b" t="t" l="l"/>
            <a:pathLst>
              <a:path h="1581904" w="11272849">
                <a:moveTo>
                  <a:pt x="0" y="0"/>
                </a:moveTo>
                <a:lnTo>
                  <a:pt x="11272849" y="0"/>
                </a:lnTo>
                <a:lnTo>
                  <a:pt x="11272849" y="1581904"/>
                </a:lnTo>
                <a:lnTo>
                  <a:pt x="0" y="1581904"/>
                </a:lnTo>
                <a:lnTo>
                  <a:pt x="0" y="0"/>
                </a:lnTo>
                <a:close/>
              </a:path>
            </a:pathLst>
          </a:custGeom>
          <a:blipFill>
            <a:blip r:embed="rId6"/>
            <a:stretch>
              <a:fillRect l="0" t="0" r="0" b="0"/>
            </a:stretch>
          </a:blipFill>
        </p:spPr>
      </p:sp>
      <p:sp>
        <p:nvSpPr>
          <p:cNvPr name="Freeform 6" id="6"/>
          <p:cNvSpPr/>
          <p:nvPr/>
        </p:nvSpPr>
        <p:spPr>
          <a:xfrm flipH="false" flipV="false" rot="0">
            <a:off x="339358" y="4736263"/>
            <a:ext cx="11176533" cy="5301877"/>
          </a:xfrm>
          <a:custGeom>
            <a:avLst/>
            <a:gdLst/>
            <a:ahLst/>
            <a:cxnLst/>
            <a:rect r="r" b="b" t="t" l="l"/>
            <a:pathLst>
              <a:path h="5301877" w="11176533">
                <a:moveTo>
                  <a:pt x="0" y="0"/>
                </a:moveTo>
                <a:lnTo>
                  <a:pt x="11176533" y="0"/>
                </a:lnTo>
                <a:lnTo>
                  <a:pt x="11176533" y="5301877"/>
                </a:lnTo>
                <a:lnTo>
                  <a:pt x="0" y="5301877"/>
                </a:lnTo>
                <a:lnTo>
                  <a:pt x="0" y="0"/>
                </a:lnTo>
                <a:close/>
              </a:path>
            </a:pathLst>
          </a:custGeom>
          <a:blipFill>
            <a:blip r:embed="rId7"/>
            <a:stretch>
              <a:fillRect l="0" t="0" r="0" b="0"/>
            </a:stretch>
          </a:blipFill>
        </p:spPr>
      </p:sp>
      <p:sp>
        <p:nvSpPr>
          <p:cNvPr name="TextBox 7" id="7"/>
          <p:cNvSpPr txBox="true"/>
          <p:nvPr/>
        </p:nvSpPr>
        <p:spPr>
          <a:xfrm rot="0">
            <a:off x="10055907" y="4218713"/>
            <a:ext cx="7203393" cy="789241"/>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 Design Diagram</a:t>
            </a:r>
          </a:p>
        </p:txBody>
      </p:sp>
      <p:sp>
        <p:nvSpPr>
          <p:cNvPr name="TextBox 8" id="8"/>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a:off x="-585133" y="9512235"/>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a:off x="-585133" y="997896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442085"/>
            <a:ext cx="7203393"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User Stories</a:t>
            </a:r>
          </a:p>
        </p:txBody>
      </p:sp>
      <p:sp>
        <p:nvSpPr>
          <p:cNvPr name="TextBox 6" id="6"/>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07</a:t>
            </a:r>
          </a:p>
        </p:txBody>
      </p:sp>
      <p:sp>
        <p:nvSpPr>
          <p:cNvPr name="Freeform 7" id="7"/>
          <p:cNvSpPr/>
          <p:nvPr/>
        </p:nvSpPr>
        <p:spPr>
          <a:xfrm flipH="false" flipV="false" rot="-10800000">
            <a:off x="13592297" y="-125958"/>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2685623"/>
            <a:ext cx="11621801" cy="6831374"/>
          </a:xfrm>
          <a:prstGeom prst="rect">
            <a:avLst/>
          </a:prstGeom>
        </p:spPr>
        <p:txBody>
          <a:bodyPr anchor="t" rtlCol="false" tIns="0" lIns="0" bIns="0" rIns="0">
            <a:spAutoFit/>
          </a:bodyPr>
          <a:lstStyle/>
          <a:p>
            <a:pPr algn="l" marL="741296" indent="-370648" lvl="1">
              <a:lnSpc>
                <a:spcPts val="3879"/>
              </a:lnSpc>
              <a:buFont typeface="Arial"/>
              <a:buChar char="•"/>
            </a:pPr>
            <a:r>
              <a:rPr lang="en-US" sz="3433" spc="-51">
                <a:solidFill>
                  <a:srgbClr val="000000"/>
                </a:solidFill>
                <a:latin typeface="Poppins"/>
                <a:ea typeface="Poppins"/>
                <a:cs typeface="Poppins"/>
                <a:sym typeface="Poppins"/>
              </a:rPr>
              <a:t>Warehouse Manager: Wants real-time automated stock tracking → reduces human error and delays</a:t>
            </a:r>
          </a:p>
          <a:p>
            <a:pPr algn="l" marL="741296" indent="-370648" lvl="1">
              <a:lnSpc>
                <a:spcPts val="3879"/>
              </a:lnSpc>
              <a:buFont typeface="Arial"/>
              <a:buChar char="•"/>
            </a:pPr>
            <a:r>
              <a:rPr lang="en-US" sz="3433" spc="-51">
                <a:solidFill>
                  <a:srgbClr val="000000"/>
                </a:solidFill>
                <a:latin typeface="Poppins"/>
                <a:ea typeface="Poppins"/>
                <a:cs typeface="Poppins"/>
                <a:sym typeface="Poppins"/>
              </a:rPr>
              <a:t>Retail Store Employee: Wants to scan/update items via image recognition → simplifies product management</a:t>
            </a:r>
          </a:p>
          <a:p>
            <a:pPr algn="l" marL="741296" indent="-370648" lvl="1">
              <a:lnSpc>
                <a:spcPts val="3879"/>
              </a:lnSpc>
              <a:buFont typeface="Arial"/>
              <a:buChar char="•"/>
            </a:pPr>
            <a:r>
              <a:rPr lang="en-US" sz="3433" spc="-51">
                <a:solidFill>
                  <a:srgbClr val="000000"/>
                </a:solidFill>
                <a:latin typeface="Poppins"/>
                <a:ea typeface="Poppins"/>
                <a:cs typeface="Poppins"/>
                <a:sym typeface="Poppins"/>
              </a:rPr>
              <a:t>Business Owner: Wants low-stock alerts → enables timely restocking and prevents lost sales</a:t>
            </a:r>
          </a:p>
          <a:p>
            <a:pPr algn="l" marL="741296" indent="-370648" lvl="1">
              <a:lnSpc>
                <a:spcPts val="3879"/>
              </a:lnSpc>
              <a:buFont typeface="Arial"/>
              <a:buChar char="•"/>
            </a:pPr>
            <a:r>
              <a:rPr lang="en-US" sz="3433" spc="-51">
                <a:solidFill>
                  <a:srgbClr val="000000"/>
                </a:solidFill>
                <a:latin typeface="Poppins"/>
                <a:ea typeface="Poppins"/>
                <a:cs typeface="Poppins"/>
                <a:sym typeface="Poppins"/>
              </a:rPr>
              <a:t>Data Analyst: Wants access to historical inventory data → supports demand forecasting and decision-making</a:t>
            </a:r>
          </a:p>
          <a:p>
            <a:pPr algn="l" marL="741296" indent="-370648" lvl="1">
              <a:lnSpc>
                <a:spcPts val="3879"/>
              </a:lnSpc>
              <a:buFont typeface="Arial"/>
              <a:buChar char="•"/>
            </a:pPr>
            <a:r>
              <a:rPr lang="en-US" sz="3433" spc="-51">
                <a:solidFill>
                  <a:srgbClr val="000000"/>
                </a:solidFill>
                <a:latin typeface="Poppins"/>
                <a:ea typeface="Poppins"/>
                <a:cs typeface="Poppins"/>
                <a:sym typeface="Poppins"/>
              </a:rPr>
              <a:t>Laboratory Technician: Wants accurate tracking of sensitive items → ensures compliance and minimizes waste</a:t>
            </a:r>
          </a:p>
          <a:p>
            <a:pPr algn="l">
              <a:lnSpc>
                <a:spcPts val="387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p:nvPr/>
        </p:nvGrpSpPr>
        <p:grpSpPr>
          <a:xfrm rot="0">
            <a:off x="5558868" y="0"/>
            <a:ext cx="7201132" cy="10287000"/>
            <a:chOff x="0" y="0"/>
            <a:chExt cx="9601509" cy="13716000"/>
          </a:xfrm>
        </p:grpSpPr>
        <p:pic>
          <p:nvPicPr>
            <p:cNvPr name="Picture 4" id="4"/>
            <p:cNvPicPr>
              <a:picLocks noChangeAspect="true"/>
            </p:cNvPicPr>
            <p:nvPr/>
          </p:nvPicPr>
          <p:blipFill>
            <a:blip r:embed="rId3"/>
            <a:srcRect l="983" t="0" r="52377" b="0"/>
            <a:stretch>
              <a:fillRect/>
            </a:stretch>
          </p:blipFill>
          <p:spPr>
            <a:xfrm flipH="false" flipV="false">
              <a:off x="0" y="0"/>
              <a:ext cx="9601509" cy="13716000"/>
            </a:xfrm>
            <a:prstGeom prst="rect">
              <a:avLst/>
            </a:prstGeom>
          </p:spPr>
        </p:pic>
      </p:grpSp>
      <p:sp>
        <p:nvSpPr>
          <p:cNvPr name="TextBox 5" id="5"/>
          <p:cNvSpPr txBox="true"/>
          <p:nvPr/>
        </p:nvSpPr>
        <p:spPr>
          <a:xfrm rot="0">
            <a:off x="13430366" y="4880657"/>
            <a:ext cx="3828934" cy="1749425"/>
          </a:xfrm>
          <a:prstGeom prst="rect">
            <a:avLst/>
          </a:prstGeom>
        </p:spPr>
        <p:txBody>
          <a:bodyPr anchor="t" rtlCol="false" tIns="0" lIns="0" bIns="0" rIns="0">
            <a:spAutoFit/>
          </a:bodyPr>
          <a:lstStyle/>
          <a:p>
            <a:pPr algn="r">
              <a:lnSpc>
                <a:spcPts val="2800"/>
              </a:lnSpc>
            </a:pPr>
            <a:r>
              <a:rPr lang="en-US" sz="2000">
                <a:solidFill>
                  <a:srgbClr val="000000"/>
                </a:solidFill>
                <a:latin typeface="Garet"/>
                <a:ea typeface="Garet"/>
                <a:cs typeface="Garet"/>
                <a:sym typeface="Garet"/>
              </a:rPr>
              <a:t>There are several major project constraints that our project faces and we must traverse through that for the duration of our project</a:t>
            </a:r>
          </a:p>
        </p:txBody>
      </p:sp>
      <p:sp>
        <p:nvSpPr>
          <p:cNvPr name="TextBox 6" id="6"/>
          <p:cNvSpPr txBox="true"/>
          <p:nvPr/>
        </p:nvSpPr>
        <p:spPr>
          <a:xfrm rot="0">
            <a:off x="1752166" y="2777385"/>
            <a:ext cx="3120902" cy="104457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Security</a:t>
            </a:r>
            <a:r>
              <a:rPr lang="en-US" sz="2000">
                <a:solidFill>
                  <a:srgbClr val="000000"/>
                </a:solidFill>
                <a:latin typeface="Garet"/>
                <a:ea typeface="Garet"/>
                <a:cs typeface="Garet"/>
                <a:sym typeface="Garet"/>
              </a:rPr>
              <a:t>: Focus on data integrity and secure API endpoints.</a:t>
            </a:r>
          </a:p>
        </p:txBody>
      </p:sp>
      <p:sp>
        <p:nvSpPr>
          <p:cNvPr name="TextBox 7" id="7"/>
          <p:cNvSpPr txBox="true"/>
          <p:nvPr/>
        </p:nvSpPr>
        <p:spPr>
          <a:xfrm rot="0">
            <a:off x="1059569" y="2868907"/>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02</a:t>
            </a:r>
          </a:p>
        </p:txBody>
      </p:sp>
      <p:sp>
        <p:nvSpPr>
          <p:cNvPr name="TextBox 8" id="8"/>
          <p:cNvSpPr txBox="true"/>
          <p:nvPr/>
        </p:nvSpPr>
        <p:spPr>
          <a:xfrm rot="0">
            <a:off x="1752166" y="848043"/>
            <a:ext cx="3120902" cy="1397000"/>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Economic</a:t>
            </a:r>
            <a:r>
              <a:rPr lang="en-US" sz="2000">
                <a:solidFill>
                  <a:srgbClr val="000000"/>
                </a:solidFill>
                <a:latin typeface="Garet"/>
                <a:ea typeface="Garet"/>
                <a:cs typeface="Garet"/>
                <a:sym typeface="Garet"/>
              </a:rPr>
              <a:t>: Limited budget; relies on open-source libraries and UC resources.</a:t>
            </a:r>
          </a:p>
        </p:txBody>
      </p:sp>
      <p:sp>
        <p:nvSpPr>
          <p:cNvPr name="TextBox 9" id="9"/>
          <p:cNvSpPr txBox="true"/>
          <p:nvPr/>
        </p:nvSpPr>
        <p:spPr>
          <a:xfrm rot="0">
            <a:off x="1028700" y="990600"/>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01</a:t>
            </a:r>
          </a:p>
        </p:txBody>
      </p:sp>
      <p:sp>
        <p:nvSpPr>
          <p:cNvPr name="TextBox 10" id="10"/>
          <p:cNvSpPr txBox="true"/>
          <p:nvPr/>
        </p:nvSpPr>
        <p:spPr>
          <a:xfrm rot="0">
            <a:off x="11084607" y="3476733"/>
            <a:ext cx="720339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Project Constraint</a:t>
            </a:r>
          </a:p>
        </p:txBody>
      </p:sp>
      <p:sp>
        <p:nvSpPr>
          <p:cNvPr name="TextBox 11" id="11"/>
          <p:cNvSpPr txBox="true"/>
          <p:nvPr/>
        </p:nvSpPr>
        <p:spPr>
          <a:xfrm rot="0">
            <a:off x="12938218" y="981075"/>
            <a:ext cx="43210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08</a:t>
            </a:r>
          </a:p>
        </p:txBody>
      </p:sp>
      <p:sp>
        <p:nvSpPr>
          <p:cNvPr name="TextBox 12" id="12"/>
          <p:cNvSpPr txBox="true"/>
          <p:nvPr/>
        </p:nvSpPr>
        <p:spPr>
          <a:xfrm rot="0">
            <a:off x="1059569" y="4377419"/>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03</a:t>
            </a:r>
          </a:p>
        </p:txBody>
      </p:sp>
      <p:sp>
        <p:nvSpPr>
          <p:cNvPr name="TextBox 13" id="13"/>
          <p:cNvSpPr txBox="true"/>
          <p:nvPr/>
        </p:nvSpPr>
        <p:spPr>
          <a:xfrm rot="0">
            <a:off x="1752166" y="4377419"/>
            <a:ext cx="3120902" cy="104457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Ethical</a:t>
            </a:r>
            <a:r>
              <a:rPr lang="en-US" sz="2000">
                <a:solidFill>
                  <a:srgbClr val="000000"/>
                </a:solidFill>
                <a:latin typeface="Garet"/>
                <a:ea typeface="Garet"/>
                <a:cs typeface="Garet"/>
                <a:sym typeface="Garet"/>
              </a:rPr>
              <a:t>: Ensure transparent model use; no misuse of data.</a:t>
            </a:r>
          </a:p>
        </p:txBody>
      </p:sp>
      <p:sp>
        <p:nvSpPr>
          <p:cNvPr name="TextBox 14" id="14"/>
          <p:cNvSpPr txBox="true"/>
          <p:nvPr/>
        </p:nvSpPr>
        <p:spPr>
          <a:xfrm rot="0">
            <a:off x="1059569" y="6290357"/>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04</a:t>
            </a:r>
          </a:p>
        </p:txBody>
      </p:sp>
      <p:sp>
        <p:nvSpPr>
          <p:cNvPr name="TextBox 15" id="15"/>
          <p:cNvSpPr txBox="true"/>
          <p:nvPr/>
        </p:nvSpPr>
        <p:spPr>
          <a:xfrm rot="0">
            <a:off x="1752166" y="6171490"/>
            <a:ext cx="3120902" cy="17494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Professional</a:t>
            </a:r>
            <a:r>
              <a:rPr lang="en-US" sz="2000">
                <a:solidFill>
                  <a:srgbClr val="000000"/>
                </a:solidFill>
                <a:latin typeface="Garet"/>
                <a:ea typeface="Garet"/>
                <a:cs typeface="Garet"/>
                <a:sym typeface="Garet"/>
              </a:rPr>
              <a:t>: Project enhances real-world engineering and data analysis skills.</a:t>
            </a:r>
          </a:p>
          <a:p>
            <a:pPr algn="l">
              <a:lnSpc>
                <a:spcPts val="28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67082" y="1009650"/>
            <a:ext cx="9136495" cy="1162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Current Progress</a:t>
            </a:r>
          </a:p>
        </p:txBody>
      </p:sp>
      <p:sp>
        <p:nvSpPr>
          <p:cNvPr name="TextBox 4" id="4"/>
          <p:cNvSpPr txBox="true"/>
          <p:nvPr/>
        </p:nvSpPr>
        <p:spPr>
          <a:xfrm rot="0">
            <a:off x="1067082" y="2365608"/>
            <a:ext cx="8076918" cy="664464"/>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This is where we currently stand in terms of progress on our project. </a:t>
            </a:r>
          </a:p>
        </p:txBody>
      </p:sp>
      <p:grpSp>
        <p:nvGrpSpPr>
          <p:cNvPr name="Group 5" id="5"/>
          <p:cNvGrpSpPr/>
          <p:nvPr/>
        </p:nvGrpSpPr>
        <p:grpSpPr>
          <a:xfrm rot="0">
            <a:off x="928062" y="4068297"/>
            <a:ext cx="12799617" cy="3779757"/>
            <a:chOff x="0" y="0"/>
            <a:chExt cx="17066155" cy="5039677"/>
          </a:xfrm>
        </p:grpSpPr>
        <p:sp>
          <p:nvSpPr>
            <p:cNvPr name="TextBox 6" id="6"/>
            <p:cNvSpPr txBox="true"/>
            <p:nvPr/>
          </p:nvSpPr>
          <p:spPr>
            <a:xfrm rot="0">
              <a:off x="0" y="-47625"/>
              <a:ext cx="17066155" cy="888948"/>
            </a:xfrm>
            <a:prstGeom prst="rect">
              <a:avLst/>
            </a:prstGeom>
          </p:spPr>
          <p:txBody>
            <a:bodyPr anchor="t" rtlCol="false" tIns="0" lIns="0" bIns="0" rIns="0">
              <a:spAutoFit/>
            </a:bodyPr>
            <a:lstStyle/>
            <a:p>
              <a:pPr algn="l" marL="0" indent="0" lvl="0">
                <a:lnSpc>
                  <a:spcPts val="5427"/>
                </a:lnSpc>
                <a:spcBef>
                  <a:spcPct val="0"/>
                </a:spcBef>
              </a:pPr>
              <a:r>
                <a:rPr lang="en-US" b="true" sz="4175">
                  <a:solidFill>
                    <a:srgbClr val="000000"/>
                  </a:solidFill>
                  <a:latin typeface="Garet Bold"/>
                  <a:ea typeface="Garet Bold"/>
                  <a:cs typeface="Garet Bold"/>
                  <a:sym typeface="Garet Bold"/>
                </a:rPr>
                <a:t>Current Status:</a:t>
              </a:r>
            </a:p>
          </p:txBody>
        </p:sp>
        <p:sp>
          <p:nvSpPr>
            <p:cNvPr name="TextBox 7" id="7"/>
            <p:cNvSpPr txBox="true"/>
            <p:nvPr/>
          </p:nvSpPr>
          <p:spPr>
            <a:xfrm rot="0">
              <a:off x="0" y="1033929"/>
              <a:ext cx="17066155" cy="4005748"/>
            </a:xfrm>
            <a:prstGeom prst="rect">
              <a:avLst/>
            </a:prstGeom>
          </p:spPr>
          <p:txBody>
            <a:bodyPr anchor="t" rtlCol="false" tIns="0" lIns="0" bIns="0" rIns="0">
              <a:spAutoFit/>
            </a:bodyPr>
            <a:lstStyle/>
            <a:p>
              <a:pPr algn="l" marL="793246" indent="-396623" lvl="1">
                <a:lnSpc>
                  <a:spcPts val="4776"/>
                </a:lnSpc>
                <a:buFont typeface="Arial"/>
                <a:buChar char="•"/>
              </a:pPr>
              <a:r>
                <a:rPr lang="en-US" sz="3674">
                  <a:solidFill>
                    <a:srgbClr val="000000"/>
                  </a:solidFill>
                  <a:latin typeface="Garet"/>
                  <a:ea typeface="Garet"/>
                  <a:cs typeface="Garet"/>
                  <a:sym typeface="Garet"/>
                </a:rPr>
                <a:t>Literature review and baseline ML model research</a:t>
              </a:r>
            </a:p>
            <a:p>
              <a:pPr algn="l" marL="793246" indent="-396623" lvl="1">
                <a:lnSpc>
                  <a:spcPts val="4776"/>
                </a:lnSpc>
                <a:buFont typeface="Arial"/>
                <a:buChar char="•"/>
              </a:pPr>
              <a:r>
                <a:rPr lang="en-US" sz="3674">
                  <a:solidFill>
                    <a:srgbClr val="000000"/>
                  </a:solidFill>
                  <a:latin typeface="Garet"/>
                  <a:ea typeface="Garet"/>
                  <a:cs typeface="Garet"/>
                  <a:sym typeface="Garet"/>
                </a:rPr>
                <a:t>Database schema and API design underway.</a:t>
              </a:r>
            </a:p>
            <a:p>
              <a:pPr algn="l" marL="793246" indent="-396623" lvl="1">
                <a:lnSpc>
                  <a:spcPts val="4776"/>
                </a:lnSpc>
                <a:buFont typeface="Arial"/>
                <a:buChar char="•"/>
              </a:pPr>
              <a:r>
                <a:rPr lang="en-US" sz="3674">
                  <a:solidFill>
                    <a:srgbClr val="000000"/>
                  </a:solidFill>
                  <a:latin typeface="Garet"/>
                  <a:ea typeface="Garet"/>
                  <a:cs typeface="Garet"/>
                  <a:sym typeface="Garet"/>
                </a:rPr>
                <a:t>Frontend design being drafted.</a:t>
              </a:r>
            </a:p>
            <a:p>
              <a:pPr algn="l" marL="793246" indent="-396623" lvl="1">
                <a:lnSpc>
                  <a:spcPts val="4776"/>
                </a:lnSpc>
                <a:spcBef>
                  <a:spcPct val="0"/>
                </a:spcBef>
                <a:buFont typeface="Arial"/>
                <a:buChar char="•"/>
              </a:pPr>
              <a:r>
                <a:rPr lang="en-US" sz="3674">
                  <a:solidFill>
                    <a:srgbClr val="000000"/>
                  </a:solidFill>
                  <a:latin typeface="Garet"/>
                  <a:ea typeface="Garet"/>
                  <a:cs typeface="Garet"/>
                  <a:sym typeface="Garet"/>
                </a:rPr>
                <a:t>System integration planned for mid-November.</a:t>
              </a:r>
            </a:p>
            <a:p>
              <a:pPr algn="l" marL="0" indent="0" lvl="0">
                <a:lnSpc>
                  <a:spcPts val="4776"/>
                </a:lnSpc>
                <a:spcBef>
                  <a:spcPct val="0"/>
                </a:spcBef>
              </a:pPr>
            </a:p>
          </p:txBody>
        </p:sp>
      </p:grpSp>
      <p:sp>
        <p:nvSpPr>
          <p:cNvPr name="TextBox 8" id="8"/>
          <p:cNvSpPr txBox="true"/>
          <p:nvPr/>
        </p:nvSpPr>
        <p:spPr>
          <a:xfrm rot="0">
            <a:off x="13547818" y="9810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09</a:t>
            </a:r>
          </a:p>
        </p:txBody>
      </p:sp>
      <p:sp>
        <p:nvSpPr>
          <p:cNvPr name="Freeform 9" id="9"/>
          <p:cNvSpPr/>
          <p:nvPr/>
        </p:nvSpPr>
        <p:spPr>
          <a:xfrm flipH="false" flipV="false" rot="0">
            <a:off x="14116474" y="455960"/>
            <a:ext cx="2008120" cy="1781750"/>
          </a:xfrm>
          <a:custGeom>
            <a:avLst/>
            <a:gdLst/>
            <a:ahLst/>
            <a:cxnLst/>
            <a:rect r="r" b="b" t="t" l="l"/>
            <a:pathLst>
              <a:path h="1781750" w="2008120">
                <a:moveTo>
                  <a:pt x="0" y="0"/>
                </a:moveTo>
                <a:lnTo>
                  <a:pt x="2008120" y="0"/>
                </a:lnTo>
                <a:lnTo>
                  <a:pt x="2008120" y="1781750"/>
                </a:lnTo>
                <a:lnTo>
                  <a:pt x="0" y="1781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67082" y="1009650"/>
            <a:ext cx="14692996" cy="1162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Expected Accomplishments</a:t>
            </a:r>
          </a:p>
        </p:txBody>
      </p:sp>
      <p:sp>
        <p:nvSpPr>
          <p:cNvPr name="TextBox 4" id="4"/>
          <p:cNvSpPr txBox="true"/>
          <p:nvPr/>
        </p:nvSpPr>
        <p:spPr>
          <a:xfrm rot="0">
            <a:off x="1067082" y="2365608"/>
            <a:ext cx="8076918" cy="331089"/>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End of Fall Semester Expected Results</a:t>
            </a:r>
          </a:p>
        </p:txBody>
      </p:sp>
      <p:sp>
        <p:nvSpPr>
          <p:cNvPr name="TextBox 5" id="5"/>
          <p:cNvSpPr txBox="true"/>
          <p:nvPr/>
        </p:nvSpPr>
        <p:spPr>
          <a:xfrm rot="0">
            <a:off x="748201" y="2877672"/>
            <a:ext cx="16854361" cy="6921193"/>
          </a:xfrm>
          <a:prstGeom prst="rect">
            <a:avLst/>
          </a:prstGeom>
        </p:spPr>
        <p:txBody>
          <a:bodyPr anchor="t" rtlCol="false" tIns="0" lIns="0" bIns="0" rIns="0">
            <a:spAutoFit/>
          </a:bodyPr>
          <a:lstStyle/>
          <a:p>
            <a:pPr algn="l" marL="706887" indent="-353443" lvl="1">
              <a:lnSpc>
                <a:spcPts val="4256"/>
              </a:lnSpc>
              <a:buFont typeface="Arial"/>
              <a:buChar char="•"/>
            </a:pPr>
            <a:r>
              <a:rPr lang="en-US" sz="3274">
                <a:solidFill>
                  <a:srgbClr val="000000"/>
                </a:solidFill>
                <a:latin typeface="Garet"/>
                <a:ea typeface="Garet"/>
                <a:cs typeface="Garet"/>
                <a:sym typeface="Garet"/>
              </a:rPr>
              <a:t>Completion of literature review and selection of the baseline deep learning model.</a:t>
            </a:r>
          </a:p>
          <a:p>
            <a:pPr algn="l" marL="706887" indent="-353443" lvl="1">
              <a:lnSpc>
                <a:spcPts val="4256"/>
              </a:lnSpc>
              <a:buFont typeface="Arial"/>
              <a:buChar char="•"/>
            </a:pPr>
            <a:r>
              <a:rPr lang="en-US" sz="3274">
                <a:solidFill>
                  <a:srgbClr val="000000"/>
                </a:solidFill>
                <a:latin typeface="Garet"/>
                <a:ea typeface="Garet"/>
                <a:cs typeface="Garet"/>
                <a:sym typeface="Garet"/>
              </a:rPr>
              <a:t>Successful data collection and preprocessing for initial model training.</a:t>
            </a:r>
          </a:p>
          <a:p>
            <a:pPr algn="l" marL="706887" indent="-353443" lvl="1">
              <a:lnSpc>
                <a:spcPts val="4256"/>
              </a:lnSpc>
              <a:buFont typeface="Arial"/>
              <a:buChar char="•"/>
            </a:pPr>
            <a:r>
              <a:rPr lang="en-US" sz="3274">
                <a:solidFill>
                  <a:srgbClr val="000000"/>
                </a:solidFill>
                <a:latin typeface="Garet"/>
                <a:ea typeface="Garet"/>
                <a:cs typeface="Garet"/>
                <a:sym typeface="Garet"/>
              </a:rPr>
              <a:t>Implementation of the machine learning training pipeline and initial evaluation.</a:t>
            </a:r>
          </a:p>
          <a:p>
            <a:pPr algn="l" marL="706887" indent="-353443" lvl="1">
              <a:lnSpc>
                <a:spcPts val="4256"/>
              </a:lnSpc>
              <a:buFont typeface="Arial"/>
              <a:buChar char="•"/>
            </a:pPr>
            <a:r>
              <a:rPr lang="en-US" sz="3274">
                <a:solidFill>
                  <a:srgbClr val="000000"/>
                </a:solidFill>
                <a:latin typeface="Garet"/>
                <a:ea typeface="Garet"/>
                <a:cs typeface="Garet"/>
                <a:sym typeface="Garet"/>
              </a:rPr>
              <a:t>Backend architecture established, including database schema and foundational API setup.</a:t>
            </a:r>
          </a:p>
          <a:p>
            <a:pPr algn="l" marL="706887" indent="-353443" lvl="1">
              <a:lnSpc>
                <a:spcPts val="4256"/>
              </a:lnSpc>
              <a:buFont typeface="Arial"/>
              <a:buChar char="•"/>
            </a:pPr>
            <a:r>
              <a:rPr lang="en-US" sz="3274">
                <a:solidFill>
                  <a:srgbClr val="000000"/>
                </a:solidFill>
                <a:latin typeface="Garet"/>
                <a:ea typeface="Garet"/>
                <a:cs typeface="Garet"/>
                <a:sym typeface="Garet"/>
              </a:rPr>
              <a:t>Initial f</a:t>
            </a:r>
            <a:r>
              <a:rPr lang="en-US" sz="3274">
                <a:solidFill>
                  <a:srgbClr val="000000"/>
                </a:solidFill>
                <a:latin typeface="Garet"/>
                <a:ea typeface="Garet"/>
                <a:cs typeface="Garet"/>
                <a:sym typeface="Garet"/>
              </a:rPr>
              <a:t>rontend dashboard design drafted with planned features.</a:t>
            </a:r>
          </a:p>
          <a:p>
            <a:pPr algn="l" marL="706887" indent="-353443" lvl="1">
              <a:lnSpc>
                <a:spcPts val="4256"/>
              </a:lnSpc>
              <a:buFont typeface="Arial"/>
              <a:buChar char="•"/>
            </a:pPr>
            <a:r>
              <a:rPr lang="en-US" sz="3274">
                <a:solidFill>
                  <a:srgbClr val="000000"/>
                </a:solidFill>
                <a:latin typeface="Garet"/>
                <a:ea typeface="Garet"/>
                <a:cs typeface="Garet"/>
                <a:sym typeface="Garet"/>
              </a:rPr>
              <a:t>Pr</a:t>
            </a:r>
            <a:r>
              <a:rPr lang="en-US" sz="3274">
                <a:solidFill>
                  <a:srgbClr val="000000"/>
                </a:solidFill>
                <a:latin typeface="Garet"/>
                <a:ea typeface="Garet"/>
                <a:cs typeface="Garet"/>
                <a:sym typeface="Garet"/>
              </a:rPr>
              <a:t>eliminary integration testing between backend and ML components initiated.</a:t>
            </a:r>
          </a:p>
          <a:p>
            <a:pPr algn="l" marL="706887" indent="-353443" lvl="1">
              <a:lnSpc>
                <a:spcPts val="4256"/>
              </a:lnSpc>
              <a:spcBef>
                <a:spcPct val="0"/>
              </a:spcBef>
              <a:buFont typeface="Arial"/>
              <a:buChar char="•"/>
            </a:pPr>
            <a:r>
              <a:rPr lang="en-US" sz="3274">
                <a:solidFill>
                  <a:srgbClr val="000000"/>
                </a:solidFill>
                <a:latin typeface="Garet"/>
                <a:ea typeface="Garet"/>
                <a:cs typeface="Garet"/>
                <a:sym typeface="Garet"/>
              </a:rPr>
              <a:t>Clear roadmap established for model refinement, frontend implementation, and full system integration in Spring 2026.</a:t>
            </a:r>
          </a:p>
          <a:p>
            <a:pPr algn="l" marL="0" indent="0" lvl="0">
              <a:lnSpc>
                <a:spcPts val="4256"/>
              </a:lnSpc>
              <a:spcBef>
                <a:spcPct val="0"/>
              </a:spcBef>
            </a:pPr>
          </a:p>
        </p:txBody>
      </p:sp>
      <p:sp>
        <p:nvSpPr>
          <p:cNvPr name="TextBox 6" id="6"/>
          <p:cNvSpPr txBox="true"/>
          <p:nvPr/>
        </p:nvSpPr>
        <p:spPr>
          <a:xfrm rot="0">
            <a:off x="13547818" y="9810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10</a:t>
            </a:r>
          </a:p>
        </p:txBody>
      </p:sp>
      <p:sp>
        <p:nvSpPr>
          <p:cNvPr name="Freeform 7" id="7"/>
          <p:cNvSpPr/>
          <p:nvPr/>
        </p:nvSpPr>
        <p:spPr>
          <a:xfrm flipH="false" flipV="false" rot="0">
            <a:off x="15975814" y="-229423"/>
            <a:ext cx="2312186" cy="1164501"/>
          </a:xfrm>
          <a:custGeom>
            <a:avLst/>
            <a:gdLst/>
            <a:ahLst/>
            <a:cxnLst/>
            <a:rect r="r" b="b" t="t" l="l"/>
            <a:pathLst>
              <a:path h="1164501" w="2312186">
                <a:moveTo>
                  <a:pt x="0" y="0"/>
                </a:moveTo>
                <a:lnTo>
                  <a:pt x="2312186" y="0"/>
                </a:lnTo>
                <a:lnTo>
                  <a:pt x="2312186" y="1164500"/>
                </a:lnTo>
                <a:lnTo>
                  <a:pt x="0" y="1164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6841721" y="2092181"/>
          <a:ext cx="10417579" cy="6362882"/>
        </p:xfrm>
        <a:graphic>
          <a:graphicData uri="http://schemas.openxmlformats.org/drawingml/2006/table">
            <a:tbl>
              <a:tblPr/>
              <a:tblGrid>
                <a:gridCol w="5208789"/>
                <a:gridCol w="5208789"/>
              </a:tblGrid>
              <a:tr h="1443664">
                <a:tc>
                  <a:txBody>
                    <a:bodyPr anchor="t" rtlCol="false"/>
                    <a:lstStyle/>
                    <a:p>
                      <a:pPr algn="ctr">
                        <a:lnSpc>
                          <a:spcPts val="2940"/>
                        </a:lnSpc>
                        <a:defRPr/>
                      </a:pPr>
                      <a:r>
                        <a:rPr lang="en-US" sz="2100">
                          <a:solidFill>
                            <a:srgbClr val="000000"/>
                          </a:solidFill>
                          <a:latin typeface="Garet"/>
                          <a:ea typeface="Garet"/>
                          <a:cs typeface="Garet"/>
                          <a:sym typeface="Garet"/>
                        </a:rPr>
                        <a:t>Team Member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Primary Responsibility</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573981">
                <a:tc>
                  <a:txBody>
                    <a:bodyPr anchor="t" rtlCol="false"/>
                    <a:lstStyle/>
                    <a:p>
                      <a:pPr algn="ctr">
                        <a:lnSpc>
                          <a:spcPts val="2940"/>
                        </a:lnSpc>
                        <a:defRPr/>
                      </a:pPr>
                      <a:r>
                        <a:rPr lang="en-US" sz="2100">
                          <a:solidFill>
                            <a:srgbClr val="000000"/>
                          </a:solidFill>
                          <a:latin typeface="Garet"/>
                          <a:ea typeface="Garet"/>
                          <a:cs typeface="Garet"/>
                          <a:sym typeface="Garet"/>
                        </a:rPr>
                        <a:t>Sabal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ML/DL Development: Image recognition model, preprocessing, training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573981">
                <a:tc>
                  <a:txBody>
                    <a:bodyPr anchor="t" rtlCol="false"/>
                    <a:lstStyle/>
                    <a:p>
                      <a:pPr algn="ctr">
                        <a:lnSpc>
                          <a:spcPts val="2940"/>
                        </a:lnSpc>
                        <a:defRPr/>
                      </a:pPr>
                      <a:r>
                        <a:rPr lang="en-US" sz="2100">
                          <a:solidFill>
                            <a:srgbClr val="000000"/>
                          </a:solidFill>
                          <a:latin typeface="Garet"/>
                          <a:ea typeface="Garet"/>
                          <a:cs typeface="Garet"/>
                          <a:sym typeface="Garet"/>
                        </a:rPr>
                        <a:t>Aayush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Backend &amp; Database: Schema design, APIs, integration, authentication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771256">
                <a:tc>
                  <a:txBody>
                    <a:bodyPr anchor="t" rtlCol="false"/>
                    <a:lstStyle/>
                    <a:p>
                      <a:pPr algn="ctr">
                        <a:lnSpc>
                          <a:spcPts val="2940"/>
                        </a:lnSpc>
                        <a:defRPr/>
                      </a:pPr>
                      <a:r>
                        <a:rPr lang="en-US" sz="2100">
                          <a:solidFill>
                            <a:srgbClr val="000000"/>
                          </a:solidFill>
                          <a:latin typeface="Garet"/>
                          <a:ea typeface="Garet"/>
                          <a:cs typeface="Garet"/>
                          <a:sym typeface="Garet"/>
                        </a:rPr>
                        <a:t>Saugat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Garet"/>
                          <a:ea typeface="Garet"/>
                          <a:cs typeface="Garet"/>
                          <a:sym typeface="Garet"/>
                        </a:rPr>
                        <a:t>Frontend/UI Design: Dashboard UI, alerts, visualization, documentation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5793388" y="7137736"/>
            <a:ext cx="1641362" cy="2114167"/>
          </a:xfrm>
          <a:custGeom>
            <a:avLst/>
            <a:gdLst/>
            <a:ahLst/>
            <a:cxnLst/>
            <a:rect r="r" b="b" t="t" l="l"/>
            <a:pathLst>
              <a:path h="2114167" w="1641362">
                <a:moveTo>
                  <a:pt x="0" y="0"/>
                </a:moveTo>
                <a:lnTo>
                  <a:pt x="1641362" y="0"/>
                </a:lnTo>
                <a:lnTo>
                  <a:pt x="1641362" y="2114166"/>
                </a:lnTo>
                <a:lnTo>
                  <a:pt x="0" y="21141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247775"/>
            <a:ext cx="5585369" cy="662237"/>
          </a:xfrm>
          <a:prstGeom prst="rect">
            <a:avLst/>
          </a:prstGeom>
        </p:spPr>
        <p:txBody>
          <a:bodyPr anchor="t" rtlCol="false" tIns="0" lIns="0" bIns="0" rIns="0">
            <a:spAutoFit/>
          </a:bodyPr>
          <a:lstStyle/>
          <a:p>
            <a:pPr algn="l" marL="0" indent="0" lvl="0">
              <a:lnSpc>
                <a:spcPts val="4530"/>
              </a:lnSpc>
              <a:spcBef>
                <a:spcPct val="0"/>
              </a:spcBef>
            </a:pPr>
            <a:r>
              <a:rPr lang="en-US" sz="5808" spc="-458">
                <a:solidFill>
                  <a:srgbClr val="000000"/>
                </a:solidFill>
                <a:latin typeface="Archivo Black"/>
                <a:ea typeface="Archivo Black"/>
                <a:cs typeface="Archivo Black"/>
                <a:sym typeface="Archivo Black"/>
              </a:rPr>
              <a:t>Division of Work</a:t>
            </a:r>
          </a:p>
        </p:txBody>
      </p:sp>
      <p:sp>
        <p:nvSpPr>
          <p:cNvPr name="TextBox 6" id="6"/>
          <p:cNvSpPr txBox="true"/>
          <p:nvPr/>
        </p:nvSpPr>
        <p:spPr>
          <a:xfrm rot="0">
            <a:off x="1028700" y="3081337"/>
            <a:ext cx="5078095" cy="2454275"/>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000000"/>
                </a:solidFill>
                <a:latin typeface="Garet Bold"/>
                <a:ea typeface="Garet Bold"/>
                <a:cs typeface="Garet Bold"/>
                <a:sym typeface="Garet Bold"/>
              </a:rPr>
              <a:t>A LOT OF WORK SUCH AS SYSTEM INTEGRATION, DOCUMENTATION, TESTING AND RESEARCH WILL TAKE COMBINED EFFORT FROM THE ENTIRE TEAM BUT THE PRIMARY RESPONSIBILITIES HAVE BEEN DIVIDED AS MENTIONED IN THE TABLE. </a:t>
            </a:r>
          </a:p>
        </p:txBody>
      </p:sp>
      <p:sp>
        <p:nvSpPr>
          <p:cNvPr name="TextBox 7" id="7"/>
          <p:cNvSpPr txBox="true"/>
          <p:nvPr/>
        </p:nvSpPr>
        <p:spPr>
          <a:xfrm rot="0">
            <a:off x="13547818" y="9810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67082" y="1009650"/>
            <a:ext cx="14692996" cy="1162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Expected Demo</a:t>
            </a:r>
          </a:p>
        </p:txBody>
      </p:sp>
      <p:sp>
        <p:nvSpPr>
          <p:cNvPr name="TextBox 4" id="4"/>
          <p:cNvSpPr txBox="true"/>
          <p:nvPr/>
        </p:nvSpPr>
        <p:spPr>
          <a:xfrm rot="0">
            <a:off x="1067082" y="2365608"/>
            <a:ext cx="8076918" cy="331089"/>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End of Project Expected Results</a:t>
            </a:r>
          </a:p>
        </p:txBody>
      </p:sp>
      <p:sp>
        <p:nvSpPr>
          <p:cNvPr name="TextBox 5" id="5"/>
          <p:cNvSpPr txBox="true"/>
          <p:nvPr/>
        </p:nvSpPr>
        <p:spPr>
          <a:xfrm rot="0">
            <a:off x="283834" y="3644046"/>
            <a:ext cx="18640570" cy="2951283"/>
          </a:xfrm>
          <a:prstGeom prst="rect">
            <a:avLst/>
          </a:prstGeom>
        </p:spPr>
        <p:txBody>
          <a:bodyPr anchor="t" rtlCol="false" tIns="0" lIns="0" bIns="0" rIns="0">
            <a:spAutoFit/>
          </a:bodyPr>
          <a:lstStyle/>
          <a:p>
            <a:pPr algn="l" marL="781802" indent="-390901" lvl="1">
              <a:lnSpc>
                <a:spcPts val="4707"/>
              </a:lnSpc>
              <a:buFont typeface="Arial"/>
              <a:buChar char="•"/>
            </a:pPr>
            <a:r>
              <a:rPr lang="en-US" sz="3621">
                <a:solidFill>
                  <a:srgbClr val="000000"/>
                </a:solidFill>
                <a:latin typeface="Garet"/>
                <a:ea typeface="Garet"/>
                <a:cs typeface="Garet"/>
                <a:sym typeface="Garet"/>
              </a:rPr>
              <a:t>Real-time object detection and item logging.</a:t>
            </a:r>
          </a:p>
          <a:p>
            <a:pPr algn="l" marL="781802" indent="-390901" lvl="1">
              <a:lnSpc>
                <a:spcPts val="4707"/>
              </a:lnSpc>
              <a:buFont typeface="Arial"/>
              <a:buChar char="•"/>
            </a:pPr>
            <a:r>
              <a:rPr lang="en-US" sz="3621">
                <a:solidFill>
                  <a:srgbClr val="000000"/>
                </a:solidFill>
                <a:latin typeface="Garet"/>
                <a:ea typeface="Garet"/>
                <a:cs typeface="Garet"/>
                <a:sym typeface="Garet"/>
              </a:rPr>
              <a:t>Interactive dashboard with inventory visualization.</a:t>
            </a:r>
          </a:p>
          <a:p>
            <a:pPr algn="l" marL="781802" indent="-390901" lvl="1">
              <a:lnSpc>
                <a:spcPts val="4707"/>
              </a:lnSpc>
              <a:buFont typeface="Arial"/>
              <a:buChar char="•"/>
            </a:pPr>
            <a:r>
              <a:rPr lang="en-US" sz="3621">
                <a:solidFill>
                  <a:srgbClr val="000000"/>
                </a:solidFill>
                <a:latin typeface="Garet"/>
                <a:ea typeface="Garet"/>
                <a:cs typeface="Garet"/>
                <a:sym typeface="Garet"/>
              </a:rPr>
              <a:t>Low-sto</a:t>
            </a:r>
            <a:r>
              <a:rPr lang="en-US" sz="3621">
                <a:solidFill>
                  <a:srgbClr val="000000"/>
                </a:solidFill>
                <a:latin typeface="Garet"/>
                <a:ea typeface="Garet"/>
                <a:cs typeface="Garet"/>
                <a:sym typeface="Garet"/>
              </a:rPr>
              <a:t>ck alert noti</a:t>
            </a:r>
            <a:r>
              <a:rPr lang="en-US" sz="3621">
                <a:solidFill>
                  <a:srgbClr val="000000"/>
                </a:solidFill>
                <a:latin typeface="Garet"/>
                <a:ea typeface="Garet"/>
                <a:cs typeface="Garet"/>
                <a:sym typeface="Garet"/>
              </a:rPr>
              <a:t>f</a:t>
            </a:r>
            <a:r>
              <a:rPr lang="en-US" sz="3621">
                <a:solidFill>
                  <a:srgbClr val="000000"/>
                </a:solidFill>
                <a:latin typeface="Garet"/>
                <a:ea typeface="Garet"/>
                <a:cs typeface="Garet"/>
                <a:sym typeface="Garet"/>
              </a:rPr>
              <a:t>ication feature.</a:t>
            </a:r>
          </a:p>
          <a:p>
            <a:pPr algn="l" marL="781802" indent="-390901" lvl="1">
              <a:lnSpc>
                <a:spcPts val="4707"/>
              </a:lnSpc>
              <a:spcBef>
                <a:spcPct val="0"/>
              </a:spcBef>
              <a:buFont typeface="Arial"/>
              <a:buChar char="•"/>
            </a:pPr>
            <a:r>
              <a:rPr lang="en-US" sz="3621">
                <a:solidFill>
                  <a:srgbClr val="000000"/>
                </a:solidFill>
                <a:latin typeface="Garet"/>
                <a:ea typeface="Garet"/>
                <a:cs typeface="Garet"/>
                <a:sym typeface="Garet"/>
              </a:rPr>
              <a:t>W</a:t>
            </a:r>
            <a:r>
              <a:rPr lang="en-US" sz="3621">
                <a:solidFill>
                  <a:srgbClr val="000000"/>
                </a:solidFill>
                <a:latin typeface="Garet"/>
                <a:ea typeface="Garet"/>
                <a:cs typeface="Garet"/>
                <a:sym typeface="Garet"/>
              </a:rPr>
              <a:t>alkthrough of backend integration and model performance.</a:t>
            </a:r>
          </a:p>
          <a:p>
            <a:pPr algn="l" marL="0" indent="0" lvl="0">
              <a:lnSpc>
                <a:spcPts val="4707"/>
              </a:lnSpc>
              <a:spcBef>
                <a:spcPct val="0"/>
              </a:spcBef>
            </a:pPr>
          </a:p>
        </p:txBody>
      </p:sp>
      <p:sp>
        <p:nvSpPr>
          <p:cNvPr name="TextBox 6" id="6"/>
          <p:cNvSpPr txBox="true"/>
          <p:nvPr/>
        </p:nvSpPr>
        <p:spPr>
          <a:xfrm rot="0">
            <a:off x="13547818" y="981075"/>
            <a:ext cx="3711482" cy="365760"/>
          </a:xfrm>
          <a:prstGeom prst="rect">
            <a:avLst/>
          </a:prstGeom>
        </p:spPr>
        <p:txBody>
          <a:bodyPr anchor="t" rtlCol="false" tIns="0" lIns="0" bIns="0" rIns="0">
            <a:spAutoFit/>
          </a:bodyPr>
          <a:lstStyle/>
          <a:p>
            <a:pPr algn="r">
              <a:lnSpc>
                <a:spcPts val="2939"/>
              </a:lnSpc>
            </a:pPr>
            <a:r>
              <a:rPr lang="en-US" b="true" sz="2099">
                <a:solidFill>
                  <a:srgbClr val="000000"/>
                </a:solidFill>
                <a:latin typeface="Garet Bold"/>
                <a:ea typeface="Garet Bold"/>
                <a:cs typeface="Garet Bold"/>
                <a:sym typeface="Garet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2739036"/>
            <a:ext cx="7203393"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Thank you</a:t>
            </a:r>
          </a:p>
        </p:txBody>
      </p:sp>
      <p:sp>
        <p:nvSpPr>
          <p:cNvPr name="AutoShape 4" id="4"/>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rot="0">
            <a:off x="-585133" y="9334500"/>
            <a:ext cx="18873133" cy="0"/>
          </a:xfrm>
          <a:prstGeom prst="line">
            <a:avLst/>
          </a:prstGeom>
          <a:ln cap="rnd" w="9525">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DAG3BPyGB3E</dc:identifier>
  <dcterms:modified xsi:type="dcterms:W3CDTF">2011-08-01T06:04:30Z</dcterms:modified>
  <cp:revision>1</cp:revision>
  <dc:title>Senior Design: Fall Design Presentation</dc:title>
</cp:coreProperties>
</file>